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09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754880" cy="4754880"/>
          </a:xfrm>
          <a:prstGeom prst="ellipse">
            <a:avLst/>
          </a:prstGeom>
          <a:solidFill>
            <a:srgbClr val="25308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253080"/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" y="1028700"/>
            <a:ext cx="1051560" cy="10515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5" name="Image 0" descr="icons/envelo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1291590"/>
            <a:ext cx="525780" cy="5257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 Security Awareness Training Module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2743200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211183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Mohit Kumar</a:t>
            </a:r>
            <a:endParaRPr lang="en-US" sz="12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95A3E53D-A45B-1A4F-EFB6-9A927EE816DD}"/>
              </a:ext>
            </a:extLst>
          </p:cNvPr>
          <p:cNvSpPr/>
          <p:nvPr/>
        </p:nvSpPr>
        <p:spPr>
          <a:xfrm>
            <a:off x="1486930" y="143122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</a:t>
            </a:r>
          </a:p>
          <a:p>
            <a:pPr marL="0" indent="0" algn="ctr">
              <a:buNone/>
            </a:pPr>
            <a:r>
              <a:rPr lang="en-US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Phishing Awareness Training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126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social-engineering attack where cybercriminals impersonate trusted sources — banks, coworkers, well-known brands — to trick people into revealing sensitive information or installing malware.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ATTACKERS ARE AFTER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5935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s/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3696462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5844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credentials &amp; passwords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42633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415137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credit card numbers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727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icons/usersecr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" y="4830318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471830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identity information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040880" y="1417320"/>
            <a:ext cx="4526280" cy="4160520"/>
          </a:xfrm>
          <a:prstGeom prst="roundRect">
            <a:avLst>
              <a:gd name="adj" fmla="val 2637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B2F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842248" y="1874520"/>
            <a:ext cx="914400" cy="9144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7" name="Image 3" descr="icons/fi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988" y="208026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297180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400" dirty="0"/>
          </a:p>
        </p:txBody>
      </p:sp>
      <p:sp>
        <p:nvSpPr>
          <p:cNvPr id="19" name="Text 13"/>
          <p:cNvSpPr/>
          <p:nvPr/>
        </p:nvSpPr>
        <p:spPr>
          <a:xfrm>
            <a:off x="7452360" y="3794760"/>
            <a:ext cx="3886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the most common entry point for data breaches and ransomware attacks worldwide.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452360" y="50749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relies on human psychology, not technical flaws — making awareness the strongest defense.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rely on predictable psychological triggers rather than technical exploits.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185166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633" y="2047113"/>
            <a:ext cx="477774" cy="4777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4290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now or your account will be suspended" pressures quick, unchecked action.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56432" y="150876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CADCFC"/>
          </a:solidFill>
          <a:ln/>
        </p:spPr>
      </p:sp>
      <p:sp>
        <p:nvSpPr>
          <p:cNvPr id="10" name="Shape 7"/>
          <p:cNvSpPr/>
          <p:nvPr/>
        </p:nvSpPr>
        <p:spPr>
          <a:xfrm>
            <a:off x="4347972" y="185166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425" y="2047113"/>
            <a:ext cx="477774" cy="4777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85032" y="34290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fines, legal trouble, or security breaches trigger panic-driven clicks.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64224" y="150876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7F8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255764" y="185166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bulls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1217" y="2047113"/>
            <a:ext cx="477774" cy="4777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92824" y="34290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Enticing subject lines ("You won a prize") lure victims into opening malicious content.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272016" y="150876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CADCFC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63556" y="185166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shiel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0726" y="206883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 &amp; Trust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500616" y="34290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boss, bank, or IT department to make requests feel legitimate.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 in Phishing Emails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warning signs to identify before responding to an email.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283580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" y="1865376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icons/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67" y="200143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819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sender address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19659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looks real, but the actual email domain is misspelled or unrelated.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283580"/>
          </a:solidFill>
          <a:ln/>
        </p:spPr>
      </p:sp>
      <p:sp>
        <p:nvSpPr>
          <p:cNvPr id="10" name="Shape 7"/>
          <p:cNvSpPr/>
          <p:nvPr/>
        </p:nvSpPr>
        <p:spPr>
          <a:xfrm>
            <a:off x="6501384" y="1865376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1" name="Image 1" descr="icons/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447" y="200143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5819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language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78040" y="19659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to act "immediately" to avoid account suspension or penalties.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2999232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283580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" y="3401568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6" name="Image 2" descr="icons/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67" y="353763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1181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350215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Customer" instead of your actual name signals a mass, untargeted attack.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217920" y="2999232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283580"/>
          </a:solidFill>
          <a:ln/>
        </p:spPr>
      </p:sp>
      <p:sp>
        <p:nvSpPr>
          <p:cNvPr id="20" name="Shape 15"/>
          <p:cNvSpPr/>
          <p:nvPr/>
        </p:nvSpPr>
        <p:spPr>
          <a:xfrm>
            <a:off x="6501384" y="3401568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1" name="Image 3" descr="icons/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447" y="353763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1181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78040" y="350215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reveals a URL that doesn’t match the claimed organization.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4535424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283580"/>
          </a:solidFill>
          <a:ln/>
        </p:spPr>
      </p:sp>
      <p:sp>
        <p:nvSpPr>
          <p:cNvPr id="25" name="Shape 19"/>
          <p:cNvSpPr/>
          <p:nvPr/>
        </p:nvSpPr>
        <p:spPr>
          <a:xfrm>
            <a:off x="832104" y="493776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6" name="Image 4" descr="icons/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67" y="507382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6542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08760" y="5038344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receipts, or documents you never requested.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6217920" y="4535424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283580"/>
          </a:solidFill>
          <a:ln/>
        </p:spPr>
      </p:sp>
      <p:sp>
        <p:nvSpPr>
          <p:cNvPr id="30" name="Shape 23"/>
          <p:cNvSpPr/>
          <p:nvPr/>
        </p:nvSpPr>
        <p:spPr>
          <a:xfrm>
            <a:off x="6501384" y="493776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1" name="Image 5" descr="icons/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447" y="507382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46542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spelling &amp; grammar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178040" y="5038344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organizations rarely send emails with obvious errors.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Fake Websites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login pages are designed to closely resemble legitimate ones. Key details to verify: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DCEE"/>
            </a:solidFill>
            <a:prstDash val="solid"/>
          </a:ln>
          <a:effectLst>
            <a:outerShdw blurRad="76200" dist="25400" dir="5400000" algn="bl" rotWithShape="0">
              <a:srgbClr val="1B1B2F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120640" cy="502920"/>
          </a:xfrm>
          <a:prstGeom prst="rect">
            <a:avLst/>
          </a:prstGeom>
          <a:solidFill>
            <a:srgbClr val="E9ECF7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78308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83080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783080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709928"/>
            <a:ext cx="3931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7099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http://secure-login.yourbank-verify.info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02936" y="170992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icons/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882" y="1731874"/>
            <a:ext cx="248717" cy="24871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bank login page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697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copies a real brand’s layout and logo, but the address bar tells the true story.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3474720"/>
            <a:ext cx="4572000" cy="15087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005840" y="3886200"/>
            <a:ext cx="4206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05840" y="4572000"/>
            <a:ext cx="4206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71616" y="1691640"/>
            <a:ext cx="384048" cy="384048"/>
          </a:xfrm>
          <a:prstGeom prst="ellipse">
            <a:avLst/>
          </a:prstGeom>
          <a:solidFill>
            <a:srgbClr val="FCEBEC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1" name="Image 1" descr="icons/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83080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83680" y="166420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padlock icon or "https://" in the address bar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071616" y="2404872"/>
            <a:ext cx="384048" cy="384048"/>
          </a:xfrm>
          <a:prstGeom prst="ellipse">
            <a:avLst/>
          </a:prstGeom>
          <a:solidFill>
            <a:srgbClr val="FCEBEC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4" name="Image 2" descr="icons/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96312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23774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is misspelled or uses an unusual domain (.info, .xyz)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071616" y="3118104"/>
            <a:ext cx="384048" cy="384048"/>
          </a:xfrm>
          <a:prstGeom prst="ellipse">
            <a:avLst/>
          </a:prstGeom>
          <a:solidFill>
            <a:srgbClr val="FCEBEC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7" name="Image 3" descr="icons/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209544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583680" y="3090672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looks slightly off — low-res logos, odd fonts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6071616" y="3831336"/>
            <a:ext cx="384048" cy="384048"/>
          </a:xfrm>
          <a:prstGeom prst="ellipse">
            <a:avLst/>
          </a:prstGeom>
          <a:solidFill>
            <a:srgbClr val="FCEBEC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0" name="Image 4" descr="icons/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922776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583680" y="380390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urgently requests passwords, OTPs, or card numbers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071616" y="4544568"/>
            <a:ext cx="384048" cy="384048"/>
          </a:xfrm>
          <a:prstGeom prst="ellipse">
            <a:avLst/>
          </a:prstGeom>
          <a:solidFill>
            <a:srgbClr val="FCEBEC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3" name="Image 5" descr="icons/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636008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83680" y="451713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verifiable contact info or company address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Example: Anatomy of a Phishing Email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mock-up showing common red flags in context (composite example, not a real brand).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7863840" cy="4617720"/>
          </a:xfrm>
          <a:prstGeom prst="roundRect">
            <a:avLst>
              <a:gd name="adj" fmla="val 1584"/>
            </a:avLst>
          </a:prstGeom>
          <a:solidFill>
            <a:srgbClr val="F7F8FC"/>
          </a:solidFill>
          <a:ln w="12700">
            <a:solidFill>
              <a:srgbClr val="D8DCEE"/>
            </a:solidFill>
            <a:prstDash val="solid"/>
          </a:ln>
          <a:effectLst>
            <a:outerShdw blurRad="76200" dist="25400" dir="5400000" algn="bl" rotWithShape="0">
              <a:srgbClr val="1B1B2F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08760"/>
            <a:ext cx="786384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60320"/>
            <a:ext cx="7863840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184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Desk &lt;it-helpdesk@company-secure-portal.net&gt;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1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mailbox will be suspended in 24 hours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2221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you@yourcompany.com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User,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detected unusual activity on your account. You must verify your identity immediately or your mailbox will be permanently suspended within 24 hours.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below to confirm your credentials: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44348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434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My Account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Team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16002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CEBEC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67335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doesn’t match the real company (.net, not the corporate domain)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15400" y="26974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CEBEC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77063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urgency: "24 hours" pressures quick action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915400" y="37947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CEBEC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386791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— no personal name used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15400" y="48920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CEBEC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49651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hides the true destination URL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Stay Safe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habits that prevent the majority of phishing attempts.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283580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184708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1986991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3677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Inspect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45920" y="198424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 address and hover over links before clicking.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283580"/>
          </a:solidFill>
          <a:ln/>
        </p:spPr>
      </p:sp>
      <p:sp>
        <p:nvSpPr>
          <p:cNvPr id="10" name="Shape 7"/>
          <p:cNvSpPr/>
          <p:nvPr/>
        </p:nvSpPr>
        <p:spPr>
          <a:xfrm>
            <a:off x="6528816" y="184708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mousepoi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1986991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63677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Direct Links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315200" y="198424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known URLs directly into the browser instead of clicking email links.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953512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283580"/>
          </a:solidFill>
          <a:ln/>
        </p:spPr>
      </p:sp>
      <p:sp>
        <p:nvSpPr>
          <p:cNvPr id="15" name="Shape 11"/>
          <p:cNvSpPr/>
          <p:nvPr/>
        </p:nvSpPr>
        <p:spPr>
          <a:xfrm>
            <a:off x="859536" y="329184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phone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3431743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08152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45920" y="3429000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prevents access even if a password is compromised.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2953512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283580"/>
          </a:solidFill>
          <a:ln/>
        </p:spPr>
      </p:sp>
      <p:sp>
        <p:nvSpPr>
          <p:cNvPr id="20" name="Shape 15"/>
          <p:cNvSpPr/>
          <p:nvPr/>
        </p:nvSpPr>
        <p:spPr>
          <a:xfrm>
            <a:off x="6528816" y="329184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719" y="3431743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08152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Independently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315200" y="3429000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unusual requests by contacting the person or organization directly.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398264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283580"/>
          </a:solidFill>
          <a:ln/>
        </p:spPr>
      </p:sp>
      <p:sp>
        <p:nvSpPr>
          <p:cNvPr id="25" name="Shape 19"/>
          <p:cNvSpPr/>
          <p:nvPr/>
        </p:nvSpPr>
        <p:spPr>
          <a:xfrm>
            <a:off x="859536" y="473659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s/b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439" y="4876495"/>
            <a:ext cx="341986" cy="34198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5262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Unknown Attachments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45920" y="4873752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invoices or documents are a common malware delivery method.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17920" y="4398264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283580"/>
          </a:solidFill>
          <a:ln/>
        </p:spPr>
      </p:sp>
      <p:sp>
        <p:nvSpPr>
          <p:cNvPr id="30" name="Shape 23"/>
          <p:cNvSpPr/>
          <p:nvPr/>
        </p:nvSpPr>
        <p:spPr>
          <a:xfrm>
            <a:off x="6528816" y="473659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icons/repo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8719" y="4876495"/>
            <a:ext cx="341986" cy="3419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15200" y="45262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Delete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315200" y="4873752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suspicious emails to IT or security, then delete without forwarding.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5308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840480" cy="3840480"/>
          </a:xfrm>
          <a:prstGeom prst="ellipse">
            <a:avLst/>
          </a:prstGeom>
          <a:solidFill>
            <a:srgbClr val="253080"/>
          </a:solidFill>
          <a:ln/>
        </p:spPr>
      </p:sp>
      <p:sp>
        <p:nvSpPr>
          <p:cNvPr id="4" name="Shape 2"/>
          <p:cNvSpPr/>
          <p:nvPr/>
        </p:nvSpPr>
        <p:spPr>
          <a:xfrm>
            <a:off x="5614416" y="571500"/>
            <a:ext cx="960120" cy="9601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5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156" y="777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383280" y="268833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275234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77640" y="2651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 identity, not just the display name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383280" y="323697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30098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77640" y="3200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urgency or fear-based requests with caution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383280" y="378561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3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84962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77640" y="3749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links before clicking; enter known URLs directly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3383280" y="433425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4398264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977640" y="4297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 to your security team promptly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722876" y="5257800"/>
            <a:ext cx="274320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683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Amit Sharma</cp:lastModifiedBy>
  <cp:revision>3</cp:revision>
  <dcterms:created xsi:type="dcterms:W3CDTF">2026-08-01T07:09:50Z</dcterms:created>
  <dcterms:modified xsi:type="dcterms:W3CDTF">2026-08-23T20:23:22Z</dcterms:modified>
</cp:coreProperties>
</file>